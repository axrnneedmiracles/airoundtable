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97280" cy="73152"/>
          </a:xfrm>
          <a:prstGeom prst="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Segoe UI"/>
              </a:defRPr>
            </a:pPr>
            <a:r>
              <a:t>AI ROUNDTABLE</a:t>
            </a:r>
          </a:p>
          <a:p>
            <a:pPr>
              <a:defRPr sz="1900" b="1">
                <a:solidFill>
                  <a:srgbClr val="FF6B4A"/>
                </a:solidFill>
                <a:latin typeface="Segoe UI"/>
              </a:defRPr>
            </a:pPr>
            <a:r>
              <a:t>Autonomous Multi-Agent Podcast Studio &amp; Router</a:t>
            </a:r>
          </a:p>
          <a:p>
            <a:pPr>
              <a:spcBef>
                <a:spcPts val="800"/>
              </a:spcBef>
              <a:defRPr sz="1150">
                <a:solidFill>
                  <a:srgbClr val="9CA3AF"/>
                </a:solidFill>
                <a:latin typeface="Segoe UI"/>
              </a:defRPr>
            </a:pPr>
            <a:r>
              <a:t>An open-source interactive broadcast platform where distinct AI personas debate unscripted philosophical and technical battlegrounds with sub-20ms audience barge-in, persistent episodic memory, and ElevenLabs voice aesthetics.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91840"/>
            <a:ext cx="5486400" cy="914400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3291840"/>
            <a:ext cx="73152" cy="9144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38328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Autonomous A2A Protocol</a:t>
            </a:r>
          </a:p>
          <a:p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IEEE A2A bus coordinating 3 personas through unscripted dynamic conflict.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43400"/>
            <a:ext cx="5486400" cy="914400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4343400"/>
            <a:ext cx="73152" cy="914400"/>
          </a:xfrm>
          <a:prstGeom prst="round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43484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Sub-20ms Voice Interruption</a:t>
            </a:r>
          </a:p>
          <a:p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Dual-engine STT (Web Speech + 16kHz PCM WAV) for instant audience barge-in.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94960"/>
            <a:ext cx="5486400" cy="914400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5394960"/>
            <a:ext cx="73152" cy="9144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4864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Episodic Memory &amp; Fine-Tuning</a:t>
            </a:r>
          </a:p>
          <a:p>
            <a:pPr>
              <a:defRPr sz="1050">
                <a:solidFill>
                  <a:srgbClr val="9CA3AF"/>
                </a:solidFill>
                <a:latin typeface="Segoe UI"/>
              </a:defRPr>
            </a:pPr>
            <a:r>
              <a:t>50+ turn context ledger with claim contradiction tracking and ChatML export.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731520"/>
            <a:ext cx="4873752" cy="5486400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731520"/>
            <a:ext cx="4873752" cy="73152"/>
          </a:xfrm>
          <a:prstGeom prst="round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841248"/>
            <a:ext cx="4507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6B4A"/>
                </a:solidFill>
                <a:latin typeface="Segoe UI"/>
              </a:defRPr>
            </a:pPr>
            <a:r>
              <a:t>●  LIVE STUDIO INTERFACE (ELEVENLABS AESTHETIC)</a:t>
            </a:r>
          </a:p>
        </p:txBody>
      </p:sp>
      <p:pic>
        <p:nvPicPr>
          <p:cNvPr id="17" name="Picture 16" descr="main_page_17926476169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234440"/>
            <a:ext cx="4507992" cy="21412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66560" y="3485464"/>
            <a:ext cx="4507992" cy="265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9CA3AF"/>
                </a:solidFill>
                <a:latin typeface="Segoe UI"/>
              </a:defRPr>
            </a:pPr>
            <a:r>
              <a:t>• Harmonic Particle Sphere: 220px canvas orb with sine-modulated membrane responding to speech frequencies</a:t>
            </a:r>
          </a:p>
          <a:p>
            <a:pPr>
              <a:spcAft>
                <a:spcPts val="400"/>
              </a:spcAft>
              <a:defRPr sz="1000">
                <a:solidFill>
                  <a:srgbClr val="9CA3AF"/>
                </a:solidFill>
                <a:latin typeface="Segoe UI"/>
              </a:defRPr>
            </a:pPr>
            <a:r>
              <a:t>• Real-Time Audio Telemetry: 32-band RMS spectrum analyzer with live vocal energy gate threshold</a:t>
            </a:r>
          </a:p>
          <a:p>
            <a:pPr>
              <a:spcAft>
                <a:spcPts val="400"/>
              </a:spcAft>
              <a:defRPr sz="1000">
                <a:solidFill>
                  <a:srgbClr val="9CA3AF"/>
                </a:solidFill>
                <a:latin typeface="Segoe UI"/>
              </a:defRPr>
            </a:pPr>
            <a:r>
              <a:t>• Live Multi-Agent Dialogue: Instant turn transcription, speaker badges, and 1-click '+ New Conversation' 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SYSTEM ARCHITECTURE &amp; WORKFLOW</a:t>
            </a:r>
          </a:p>
          <a:p>
            <a:pPr>
              <a:defRPr sz="1300">
                <a:solidFill>
                  <a:srgbClr val="FF6B4A"/>
                </a:solidFill>
                <a:latin typeface="Segoe UI"/>
              </a:defRPr>
            </a:pPr>
            <a:r>
              <a:t>Three-tier distributed architecture linking interactive browser telemetry to local/cloud reasoning and voice synthesis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3474720" cy="3977639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474720" cy="73152"/>
          </a:xfrm>
          <a:prstGeom prst="round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64792"/>
            <a:ext cx="3072384" cy="370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B4A"/>
                </a:solidFill>
                <a:latin typeface="Segoe UI"/>
              </a:defRPr>
            </a:pPr>
            <a:r>
              <a:t>TIER 1: CLIENT STUDIO</a:t>
            </a:r>
          </a:p>
          <a:p>
            <a:pPr>
              <a:defRPr sz="1050">
                <a:solidFill>
                  <a:srgbClr val="FFFFFF"/>
                </a:solidFill>
                <a:latin typeface="Segoe UI"/>
              </a:defRPr>
            </a:pPr>
            <a:r>
              <a:t>Frontend Experience &amp; Telemetry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ElevenLabs Particle Sphere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   Interactive 220px harmonic canvas visualizer with sine-modulated membrane physics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Dual-Engine Voice Capture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   Live Web Speech API preview + in-browser 16kHz mono PCM WAV direct encoder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Real-Time Telemetry Bar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   32-band spectrum analyzer tracking live vocal energy and speech thresholds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Responsive Interruption UI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   Hands-free VAD gate or 1-click push-to-talk with instant audio muting (&lt;20ms)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00200"/>
            <a:ext cx="3474720" cy="3977639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43400" y="1600200"/>
            <a:ext cx="34747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44568" y="1764792"/>
            <a:ext cx="3072384" cy="370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B82F6"/>
                </a:solidFill>
                <a:latin typeface="Segoe UI"/>
              </a:defRPr>
            </a:pPr>
            <a:r>
              <a:t>TIER 2: A2A ORCHESTRATOR</a:t>
            </a:r>
          </a:p>
          <a:p>
            <a:pPr>
              <a:defRPr sz="1050">
                <a:solidFill>
                  <a:srgbClr val="FFFFFF"/>
                </a:solidFill>
                <a:latin typeface="Segoe UI"/>
              </a:defRPr>
            </a:pPr>
            <a:r>
              <a:t>Agent Coordination &amp; Agenda Engine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IEEE A2A Protocol Bus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   Coordinates turn deliberation: Proposals, Challenges, Syntheses, and Yields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Topic &amp; Battlegrounds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   Curated thematic blueprints mapping core trade-offs (AI, Transit, Fusion, UBI)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Novelty Rules Engine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   Deduplicates phrases and injects novelty directives to prevent circular loops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WebSocket Event Hub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   Bi-directional event sync streaming turn states, A2A traces, and audio blobs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00200"/>
            <a:ext cx="3474720" cy="3977639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80" y="1600200"/>
            <a:ext cx="3474720" cy="731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6448" y="1764792"/>
            <a:ext cx="3072384" cy="370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TIER 3: BACKEND WORKERS</a:t>
            </a:r>
          </a:p>
          <a:p>
            <a:pPr>
              <a:defRPr sz="1050">
                <a:solidFill>
                  <a:srgbClr val="FFFFFF"/>
                </a:solidFill>
                <a:latin typeface="Segoe UI"/>
              </a:defRPr>
            </a:pPr>
            <a:r>
              <a:t>Reasoning, Voice &amp; Episodic Memory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Debate Memory Engine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   Tracks full conversation history, panelist stance ledgers, and audience questions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Multi-Provider LLM Worker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   Local Ollama (Llama 3.2), OpenAI-compatible (Groq 70B), or procedural fallback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ElevenLabs Voice Layer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   Flash v2.5 low-latency neural TTS with pitch-modulated harmonic fallback audio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Fine-Tuning Dataset Exporter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   Generates ShareGPT and OpenAI ChatML JSONL datasets for model training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715000"/>
            <a:ext cx="10698480" cy="777240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76072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6B4A"/>
                </a:solidFill>
                <a:latin typeface="Segoe UI"/>
              </a:defRPr>
            </a:pPr>
            <a:r>
              <a:t>END-TO-END EXECUTION PIPELINE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Microphone (16kHz PCM WAV)  ➔  Sub-20ms Interruption Gate  ➔  Fast STT (Google SR / Whisper)  ➔  Episodic Memory Query  ➔  LLM Reasoning (Llama / Groq)  ➔  ElevenLabs Neural Audio  ➔  Visualizer Orb Flare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THE 3 AUTONOMOUS AI PERSONAS</a:t>
            </a:r>
          </a:p>
          <a:p>
            <a:pPr>
              <a:defRPr sz="1300">
                <a:solidFill>
                  <a:srgbClr val="FF6B4A"/>
                </a:solidFill>
                <a:latin typeface="Segoe UI"/>
              </a:defRPr>
            </a:pPr>
            <a:r>
              <a:t>Engineered podcast personalities with distinct philosophical conviction, voice profiles, and direct conflict dynamics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3474720" cy="4892040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474720" cy="73152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30175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8B5CF6"/>
                </a:solidFill>
                <a:latin typeface="Segoe UI"/>
              </a:defRPr>
            </a:pPr>
            <a:r>
              <a:t>SARAH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Host &amp; Executive Moderator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Voice: Rachel / Sarah (EXAVITQu4vr4xnSDxMaL)</a:t>
            </a:r>
          </a:p>
          <a:p>
            <a:br/>
            <a:pPr>
              <a:defRPr sz="1100">
                <a:solidFill>
                  <a:srgbClr val="9CA3AF"/>
                </a:solidFill>
                <a:latin typeface="Segoe UI"/>
              </a:defRPr>
            </a:pPr>
            <a:r>
              <a:t>Drives the broadcast, cuts through evasion, confronts guests with trade-offs, and weaves listener interruptions into the core debate.</a:t>
            </a:r>
          </a:p>
          <a:p>
            <a:br/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Core Conversational Directives: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• Zero hollow pleasantries ('Welcome', 'Thanks for having me')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• Pinpoints the blind spot in the opponent's argument immediately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• Demands concrete mechanisms instead of corporate platitudes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• Broadcast-ready cadence: 2 crisp, high-impact spoken sentences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00200"/>
            <a:ext cx="3474720" cy="4892040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43400" y="1600200"/>
            <a:ext cx="347472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83080"/>
            <a:ext cx="30175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3B82F6"/>
                </a:solidFill>
                <a:latin typeface="Segoe UI"/>
              </a:defRPr>
            </a:pPr>
            <a:r>
              <a:t>CHARLIE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AI Accelerationist &amp; Systems Hacker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Voice: Charlie (IKne3meq5aSn9XLyUdCD)</a:t>
            </a:r>
          </a:p>
          <a:p>
            <a:br/>
            <a:pPr>
              <a:defRPr sz="1100">
                <a:solidFill>
                  <a:srgbClr val="9CA3AF"/>
                </a:solidFill>
                <a:latin typeface="Segoe UI"/>
              </a:defRPr>
            </a:pPr>
            <a:r>
              <a:t>Frontier systems engineer advocating for open weights, local compute ownership, cryptographic verification, and software freedom.</a:t>
            </a:r>
          </a:p>
          <a:p>
            <a:br/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Core Conversational Directives: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• Argues closed monopolies create fragile single points of failure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• Asserts open inspection is the only scalable defense against threats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• Rebuts regulatory bans with technical feasibility realities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• Never uses canned cheerleader slang; jumps straight to mechanisms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00200"/>
            <a:ext cx="3474720" cy="4892040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80" y="1600200"/>
            <a:ext cx="3474720" cy="731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783080"/>
            <a:ext cx="30175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  <a:latin typeface="Segoe UI"/>
              </a:defRPr>
            </a:pPr>
            <a:r>
              <a:t>ROGER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AI Governance Scholar &amp; Policy Fellow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Voice: Roger (CwhRBWXzGAHq8TQ4Fs17)</a:t>
            </a:r>
          </a:p>
          <a:p>
            <a:br/>
            <a:pPr>
              <a:defRPr sz="1100">
                <a:solidFill>
                  <a:srgbClr val="9CA3AF"/>
                </a:solidFill>
                <a:latin typeface="Segoe UI"/>
              </a:defRPr>
            </a:pPr>
            <a:r>
              <a:t>Technology policy researcher exposing systemic risks, market externalities, and irreversible hazards in unaligned technology.</a:t>
            </a:r>
          </a:p>
          <a:p>
            <a:br/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Core Conversational Directives: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• Cuts through Silicon Valley techno-solutionism and hype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• Highlights physical victims, democratic erosion, and failure modes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• Directly dismantles the false analogy between software and dual-use models</a:t>
            </a:r>
          </a:p>
          <a:p>
            <a:pPr>
              <a:defRPr sz="1000">
                <a:solidFill>
                  <a:srgbClr val="9CA3AF"/>
                </a:solidFill>
                <a:latin typeface="Segoe UI"/>
              </a:defRPr>
            </a:pPr>
            <a:r>
              <a:t>• Grounds discussions in enforceable public accountability frameworks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REAL-TIME BARGE-IN INTERRUPTION &amp; STT WORKFLOW</a:t>
            </a:r>
          </a:p>
          <a:p>
            <a:pPr>
              <a:defRPr sz="1300">
                <a:solidFill>
                  <a:srgbClr val="FF6B4A"/>
                </a:solidFill>
                <a:latin typeface="Segoe UI"/>
              </a:defRPr>
            </a:pPr>
            <a:r>
              <a:t>Zero-fail speech transcription and sub-20ms instant muting for live conversational barge-in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2697480" cy="2240280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2697480" cy="54864"/>
          </a:xfrm>
          <a:prstGeom prst="round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09928"/>
            <a:ext cx="236829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6B4A"/>
                </a:solidFill>
                <a:latin typeface="Segoe UI"/>
              </a:defRPr>
            </a:pPr>
            <a:r>
              <a:t>1. VOICE DETECTION</a:t>
            </a:r>
          </a:p>
          <a:p>
            <a:pPr>
              <a:defRPr sz="1000" b="1">
                <a:solidFill>
                  <a:srgbClr val="FFFFFF"/>
                </a:solidFill>
                <a:latin typeface="Segoe UI"/>
              </a:defRPr>
            </a:pPr>
            <a:r>
              <a:t>Auto-VAD or Push-To-Talk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In-browser AudioContext captures uncompressed 16kHz mono WAV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Web Speech API streams instant interim transcript preview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Zero ffmpeg dependency; pure native browser audio tapping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600200"/>
            <a:ext cx="2697480" cy="2240280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66160" y="1600200"/>
            <a:ext cx="2697480" cy="54864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0752" y="1709928"/>
            <a:ext cx="236829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B5CF6"/>
                </a:solidFill>
                <a:latin typeface="Segoe UI"/>
              </a:defRPr>
            </a:pPr>
            <a:r>
              <a:t>2. INSTANT BARGE-IN CUTOFF</a:t>
            </a:r>
          </a:p>
          <a:p>
            <a:pPr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Sub-20ms Audio Preemption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Immediately pauses playing HTML5 audio element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Halts turn timers and shifts visualizer orb to Listening state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Broadcasts interruption event to all connected WebSocket clients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2697480" cy="2240280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2697480" cy="54864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133088"/>
            <a:ext cx="236829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B82F6"/>
                </a:solidFill>
                <a:latin typeface="Segoe UI"/>
              </a:defRPr>
            </a:pPr>
            <a:r>
              <a:t>3. MULTI-TIER STT RESOLUTION</a:t>
            </a:r>
          </a:p>
          <a:p>
            <a:pPr>
              <a:defRPr sz="1000" b="1">
                <a:solidFill>
                  <a:srgbClr val="FFFFFF"/>
                </a:solidFill>
                <a:latin typeface="Segoe UI"/>
              </a:defRPr>
            </a:pPr>
            <a:r>
              <a:t>Zero-Fail Speech Pipeline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Tier 1: Browser Web Speech text (0ms local latency)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Tier 2: Python built-in Google Speech Recognition (~300ms)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Tier 3: Groq Cloud Whisper API (&lt;250ms ultra-fast)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Tier 4: Local whisper.cpp for offline environments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4023360"/>
            <a:ext cx="2697480" cy="2240280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6160" y="4023360"/>
            <a:ext cx="2697480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30752" y="4133088"/>
            <a:ext cx="236829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Segoe UI"/>
              </a:defRPr>
            </a:pPr>
            <a:r>
              <a:t>4. NATURAL AGENT REACTION</a:t>
            </a:r>
          </a:p>
          <a:p>
            <a:pPr>
              <a:defRPr sz="1000" b="1">
                <a:solidFill>
                  <a:srgbClr val="FFFFFF"/>
                </a:solidFill>
                <a:latin typeface="Segoe UI"/>
              </a:defRPr>
            </a:pPr>
            <a:r>
              <a:t>In-Character Floor Yield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Smart regex parses target panelist from speech utterance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Active speaker yields floor ('Hold on—', 'Wait, look...')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Addresses audience challenge before resuming debate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• Logs question to episodic memory ledger as an open claim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1600200"/>
            <a:ext cx="4873752" cy="4892040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0" y="1600200"/>
            <a:ext cx="4873752" cy="73152"/>
          </a:xfrm>
          <a:prstGeom prst="round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1709928"/>
            <a:ext cx="4507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6B4A"/>
                </a:solidFill>
                <a:latin typeface="Segoe UI"/>
              </a:defRPr>
            </a:pPr>
            <a:r>
              <a:t>●  AUDIO-REACTIVE PARTICLE ORB (LIVE BROADCAST)</a:t>
            </a:r>
          </a:p>
        </p:txBody>
      </p:sp>
      <p:pic>
        <p:nvPicPr>
          <p:cNvPr id="19" name="Picture 18" descr="talking_state_burst_17926306951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103120"/>
            <a:ext cx="4507992" cy="21412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766560" y="4354144"/>
            <a:ext cx="4507992" cy="206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9CA3AF"/>
                </a:solidFill>
                <a:latin typeface="Segoe UI"/>
              </a:defRPr>
            </a:pPr>
            <a:r>
              <a:t>• Dynamic Frequency Membrane: 220px particle sphere dynamically expands and flares with speaker amplitude</a:t>
            </a:r>
          </a:p>
          <a:p>
            <a:pPr>
              <a:spcAft>
                <a:spcPts val="400"/>
              </a:spcAft>
              <a:defRPr sz="1000">
                <a:solidFill>
                  <a:srgbClr val="9CA3AF"/>
                </a:solidFill>
                <a:latin typeface="Segoe UI"/>
              </a:defRPr>
            </a:pPr>
            <a:r>
              <a:t>• Sub-20ms Audio Preemption: Playback instantly freezes the millisecond audience vocal energy crosses the VAD gate</a:t>
            </a:r>
          </a:p>
          <a:p>
            <a:pPr>
              <a:spcAft>
                <a:spcPts val="400"/>
              </a:spcAft>
              <a:defRPr sz="1000">
                <a:solidFill>
                  <a:srgbClr val="9CA3AF"/>
                </a:solidFill>
                <a:latin typeface="Segoe UI"/>
              </a:defRPr>
            </a:pPr>
            <a:r>
              <a:t>• Natural Conversational Yield: Panelist acknowledges the listener challenge in-character before returning to the topic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LONG-TERM EPISODIC MEMORY &amp; FINE-TUNING</a:t>
            </a:r>
          </a:p>
          <a:p>
            <a:pPr>
              <a:defRPr sz="1300">
                <a:solidFill>
                  <a:srgbClr val="FF6B4A"/>
                </a:solidFill>
                <a:latin typeface="Segoe UI"/>
              </a:defRPr>
            </a:pPr>
            <a:r>
              <a:t>Persistent conversational awareness, panelist stance ledgers, and automated dataset extraction for model training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3291840" cy="4892040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29184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64792"/>
            <a:ext cx="2926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B82F6"/>
                </a:solidFill>
                <a:latin typeface="Segoe UI"/>
              </a:defRPr>
            </a:pPr>
            <a:r>
              <a:t>EPISODIC MEMORY ENGINE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✓ Zero Context Truncation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Replaced hardcoded 4-turn slicing with dynamic episodic context assembly accommodating 50+ turn debates.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✓ Panelist Stance Ledger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Tracks propositions asserted by Sarah, Charlie, and Roger. Personas cite and counter earlier claims by name.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✓ Audience Inquiries Tracker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Records every audience challenge, tracking whether it has been resolved or remains an open dispute.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✓ Running Narrative Arc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Generates concise running syntheses of key debate tensions injected directly into LLM prompts.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600200"/>
            <a:ext cx="4251960" cy="4892040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51960" y="1600200"/>
            <a:ext cx="4251960" cy="7315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709928"/>
            <a:ext cx="3886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Segoe UI"/>
              </a:defRPr>
            </a:pPr>
            <a:r>
              <a:t>●  DEBATE MEMORY &amp; CLAIMS DRAWER (LIVE MODAL)</a:t>
            </a:r>
          </a:p>
        </p:txBody>
      </p:sp>
      <p:pic>
        <p:nvPicPr>
          <p:cNvPr id="10" name="Picture 9" descr="memory_modal_1792647640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103120"/>
            <a:ext cx="3886200" cy="184594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34840" y="4058793"/>
            <a:ext cx="3886200" cy="2360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9CA3AF"/>
                </a:solidFill>
                <a:latin typeface="Segoe UI"/>
              </a:defRPr>
            </a:pPr>
            <a:r>
              <a:t>• Active Claim Ledger: Live proposition tracking per persona with contradiction detection</a:t>
            </a:r>
          </a:p>
          <a:p>
            <a:pPr>
              <a:spcAft>
                <a:spcPts val="400"/>
              </a:spcAft>
              <a:defRPr sz="1000">
                <a:solidFill>
                  <a:srgbClr val="9CA3AF"/>
                </a:solidFill>
                <a:latin typeface="Segoe UI"/>
              </a:defRPr>
            </a:pPr>
            <a:r>
              <a:t>• Open Disputes Matrix: Unresolved listener inquiries flagged for future round resolution</a:t>
            </a:r>
          </a:p>
          <a:p>
            <a:pPr>
              <a:spcAft>
                <a:spcPts val="400"/>
              </a:spcAft>
              <a:defRPr sz="1000">
                <a:solidFill>
                  <a:srgbClr val="9CA3AF"/>
                </a:solidFill>
                <a:latin typeface="Segoe UI"/>
              </a:defRPr>
            </a:pPr>
            <a:r>
              <a:t>• Running Narrative Arc: Real-time debate synthesis maintaining multi-turn continuity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1600200"/>
            <a:ext cx="2724912" cy="4892040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732520" y="1600200"/>
            <a:ext cx="2724912" cy="731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97112" y="1764792"/>
            <a:ext cx="239572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FINE-TUNING EXPORT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✓ Multi-Format Export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1-Click download of sessions in OpenAI ChatML and ShareGPT JSONL.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✓ Tooling Integration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Ready for Unsloth, Axolotl, LLaMA-Factory, and OpenAI APIs.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✓ Interruption Markers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Formats turns with authentic floor yields and challenge cues.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✓ Broadcast Seed Data</a:t>
            </a:r>
          </a:p>
          <a:p>
            <a:pPr>
              <a:defRPr sz="950">
                <a:solidFill>
                  <a:srgbClr val="9CA3AF"/>
                </a:solidFill>
                <a:latin typeface="Segoe UI"/>
              </a:defRPr>
            </a:pPr>
            <a:r>
              <a:t>Includes benchmark debates on AI Safety, Compute Ownership, and Energy.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PRODUCTION TECH STACK &amp; STUDIO CONTROLS</a:t>
            </a:r>
          </a:p>
          <a:p>
            <a:pPr>
              <a:defRPr sz="1300">
                <a:solidFill>
                  <a:srgbClr val="FF6B4A"/>
                </a:solidFill>
                <a:latin typeface="Segoe UI"/>
              </a:defRPr>
            </a:pPr>
            <a:r>
              <a:t>Full-stack specifications, fallback guarantees, and zero-cost local developer experience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2697480" cy="2240280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2697480" cy="54864"/>
          </a:xfrm>
          <a:prstGeom prst="roundRect">
            <a:avLst/>
          </a:prstGeom>
          <a:solidFill>
            <a:srgbClr val="FF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09928"/>
            <a:ext cx="236829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6B4A"/>
                </a:solidFill>
                <a:latin typeface="Segoe UI"/>
              </a:defRPr>
            </a:pPr>
            <a:r>
              <a:t>Voice Layer (TTS)</a:t>
            </a:r>
          </a:p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ElevenLabs Flash v2.5</a:t>
            </a:r>
          </a:p>
          <a:p>
            <a:pPr>
              <a:spcBef>
                <a:spcPts val="400"/>
              </a:spcBef>
              <a:defRPr sz="950">
                <a:solidFill>
                  <a:srgbClr val="9CA3AF"/>
                </a:solidFill>
                <a:latin typeface="Segoe UI"/>
              </a:defRPr>
            </a:pPr>
            <a:r>
              <a:t>Ultra-low-latency neural audio with persona voice IDs; graceful procedural modulated fallback audio when API key is unconfigured.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600200"/>
            <a:ext cx="2697480" cy="2240280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66160" y="1600200"/>
            <a:ext cx="2697480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0752" y="1709928"/>
            <a:ext cx="236829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Speech-to-Text (STT)</a:t>
            </a:r>
          </a:p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Dual-Engine Hybrid STT</a:t>
            </a:r>
          </a:p>
          <a:p>
            <a:pPr>
              <a:spcBef>
                <a:spcPts val="400"/>
              </a:spcBef>
              <a:defRPr sz="950">
                <a:solidFill>
                  <a:srgbClr val="9CA3AF"/>
                </a:solidFill>
                <a:latin typeface="Segoe UI"/>
              </a:defRPr>
            </a:pPr>
            <a:r>
              <a:t>Browser Web Speech API streaming + pure Python 16kHz WAV Google SR + Groq Whisper. 0 ffmpeg binary dependency.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2697480" cy="2240280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2697480" cy="54864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133088"/>
            <a:ext cx="236829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Segoe UI"/>
              </a:defRPr>
            </a:pPr>
            <a:r>
              <a:t>Reasoning Engine (LLM)</a:t>
            </a:r>
          </a:p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Multi-Provider LLM</a:t>
            </a:r>
          </a:p>
          <a:p>
            <a:pPr>
              <a:spcBef>
                <a:spcPts val="400"/>
              </a:spcBef>
              <a:defRPr sz="950">
                <a:solidFill>
                  <a:srgbClr val="9CA3AF"/>
                </a:solidFill>
                <a:latin typeface="Segoe UI"/>
              </a:defRPr>
            </a:pPr>
            <a:r>
              <a:t>Supports local Ollama (Llama 3.2 3B), Groq Llama 3.3 70B, OpenAI-compatible endpoints, and procedural generator.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4023360"/>
            <a:ext cx="2697480" cy="2240280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6160" y="4023360"/>
            <a:ext cx="2697480" cy="5486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30752" y="4133088"/>
            <a:ext cx="2368296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New Conversation Flow</a:t>
            </a:r>
          </a:p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1-Click Full State Reset</a:t>
            </a:r>
          </a:p>
          <a:p>
            <a:pPr>
              <a:spcBef>
                <a:spcPts val="400"/>
              </a:spcBef>
              <a:defRPr sz="950">
                <a:solidFill>
                  <a:srgbClr val="9CA3AF"/>
                </a:solidFill>
                <a:latin typeface="Segoe UI"/>
              </a:defRPr>
            </a:pPr>
            <a:r>
              <a:t>Dedicated endpoint and UI button resetting memory, claims ledgers, and transcript for instant fresh debate topics.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1600200"/>
            <a:ext cx="4873752" cy="4892040"/>
          </a:xfrm>
          <a:prstGeom prst="roundRect">
            <a:avLst/>
          </a:prstGeom>
          <a:solidFill>
            <a:srgbClr val="181C26"/>
          </a:solidFill>
          <a:ln w="1270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0" y="1600200"/>
            <a:ext cx="4873752" cy="7315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1709928"/>
            <a:ext cx="4507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●  STUDIO SETTINGS &amp; TUNING CONTROLS (LIVE MODAL)</a:t>
            </a:r>
          </a:p>
        </p:txBody>
      </p:sp>
      <p:pic>
        <p:nvPicPr>
          <p:cNvPr id="19" name="Picture 18" descr="settings_modal_17926476245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103120"/>
            <a:ext cx="4507992" cy="21412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766560" y="4354144"/>
            <a:ext cx="4507992" cy="206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9CA3AF"/>
                </a:solidFill>
                <a:latin typeface="Segoe UI"/>
              </a:defRPr>
            </a:pPr>
            <a:r>
              <a:t>• Interruption Sensitivity: Real-time slider adjusting RMS vocal energy threshold for barge-in</a:t>
            </a:r>
          </a:p>
          <a:p>
            <a:pPr>
              <a:spcAft>
                <a:spcPts val="400"/>
              </a:spcAft>
              <a:defRPr sz="1000">
                <a:solidFill>
                  <a:srgbClr val="9CA3AF"/>
                </a:solidFill>
                <a:latin typeface="Segoe UI"/>
              </a:defRPr>
            </a:pPr>
            <a:r>
              <a:t>• Turn-Taking Cadence: Configurable pacing controls (0.5s rapid-fire to 3.0s broadcast tempo)</a:t>
            </a:r>
          </a:p>
          <a:p>
            <a:pPr>
              <a:spcAft>
                <a:spcPts val="400"/>
              </a:spcAft>
              <a:defRPr sz="1000">
                <a:solidFill>
                  <a:srgbClr val="9CA3AF"/>
                </a:solidFill>
                <a:latin typeface="Segoe UI"/>
              </a:defRPr>
            </a:pPr>
            <a:r>
              <a:t>• Chroma Key &amp; Memory Depth: Green-screen mode for live streaming and adjustable context recall limits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